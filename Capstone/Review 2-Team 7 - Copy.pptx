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80" r:id="rId5"/>
    <p:sldId id="260" r:id="rId6"/>
    <p:sldId id="276" r:id="rId7"/>
    <p:sldId id="262" r:id="rId8"/>
    <p:sldId id="272" r:id="rId9"/>
    <p:sldId id="277" r:id="rId10"/>
    <p:sldId id="273" r:id="rId11"/>
    <p:sldId id="278" r:id="rId12"/>
    <p:sldId id="274" r:id="rId13"/>
    <p:sldId id="279" r:id="rId14"/>
    <p:sldId id="271" r:id="rId15"/>
    <p:sldId id="281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 snapToObjects="1" showGuides="1">
      <p:cViewPr varScale="1">
        <p:scale>
          <a:sx n="87" d="100"/>
          <a:sy n="87" d="100"/>
        </p:scale>
        <p:origin x="135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6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67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048668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9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1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1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104861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38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104864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104864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 fontScale="95833" lnSpcReduction="20000"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0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1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 fontScale="95833" lnSpcReduction="20000"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2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3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1048654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5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9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104859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9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104865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0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1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104866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6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27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28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10486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3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104863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3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2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2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104862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2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extBox 2"/>
          <p:cNvSpPr txBox="1"/>
          <p:nvPr/>
        </p:nvSpPr>
        <p:spPr>
          <a:xfrm>
            <a:off x="98425" y="1723390"/>
            <a:ext cx="8992235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3000" b="1" dirty="0">
                <a:solidFill>
                  <a:srgbClr val="FF0000"/>
                </a:solidFill>
              </a:rPr>
              <a:t>Secure Digital Voting and Election Management System with Authentication Using Object-Oriented Programming in C++</a:t>
            </a:r>
          </a:p>
        </p:txBody>
      </p:sp>
      <p:sp>
        <p:nvSpPr>
          <p:cNvPr id="1048602" name="TextBox 2"/>
          <p:cNvSpPr txBox="1"/>
          <p:nvPr/>
        </p:nvSpPr>
        <p:spPr>
          <a:xfrm>
            <a:off x="756920" y="4617720"/>
            <a:ext cx="3964940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Presented by :</a:t>
            </a:r>
          </a:p>
          <a:p>
            <a:endParaRPr lang="en-IN" sz="2000" b="1" dirty="0"/>
          </a:p>
          <a:p>
            <a:r>
              <a:rPr lang="en-US" altLang="en-IN" sz="2000" b="1" dirty="0"/>
              <a:t>CH. Venkata Chandu (192424140</a:t>
            </a:r>
            <a:r>
              <a:rPr lang="en-IN" sz="2000" b="1" dirty="0"/>
              <a:t>)</a:t>
            </a:r>
          </a:p>
          <a:p>
            <a:r>
              <a:rPr lang="en-IN" sz="2000" b="1" dirty="0"/>
              <a:t>R.V Sreenivasan (192521417)</a:t>
            </a:r>
          </a:p>
          <a:p>
            <a:r>
              <a:rPr lang="en-US" altLang="en-IN" sz="2000" b="1" dirty="0"/>
              <a:t>S</a:t>
            </a:r>
            <a:r>
              <a:rPr lang="en-IN" sz="2000" b="1" dirty="0"/>
              <a:t>.</a:t>
            </a:r>
            <a:r>
              <a:rPr lang="en-US" altLang="en-IN" sz="2000" b="1" dirty="0"/>
              <a:t>Sanjay </a:t>
            </a:r>
            <a:r>
              <a:rPr lang="en-IN" sz="2000" b="1" dirty="0"/>
              <a:t>(1925</a:t>
            </a:r>
            <a:r>
              <a:rPr lang="en-US" altLang="en-IN" sz="2000" b="1" dirty="0"/>
              <a:t>21058</a:t>
            </a:r>
            <a:r>
              <a:rPr lang="en-IN" sz="2000" b="1" dirty="0"/>
              <a:t>)</a:t>
            </a:r>
          </a:p>
        </p:txBody>
      </p:sp>
      <p:sp>
        <p:nvSpPr>
          <p:cNvPr id="1048603" name="TextBox 4"/>
          <p:cNvSpPr txBox="1"/>
          <p:nvPr/>
        </p:nvSpPr>
        <p:spPr>
          <a:xfrm>
            <a:off x="5812258" y="4736177"/>
            <a:ext cx="3052804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Under the supervision of:</a:t>
            </a:r>
          </a:p>
          <a:p>
            <a:endParaRPr lang="en-IN" sz="2000" b="1" dirty="0"/>
          </a:p>
          <a:p>
            <a:r>
              <a:rPr lang="en-IN" sz="2000" b="1" dirty="0" err="1"/>
              <a:t>D</a:t>
            </a:r>
            <a:r>
              <a:rPr lang="en-US" altLang="en-IN" sz="2000" b="1" dirty="0" err="1"/>
              <a:t>r. </a:t>
            </a:r>
            <a:r>
              <a:rPr lang="en-IN" altLang="en-US" sz="2000" b="1" dirty="0" err="1"/>
              <a:t>I. </a:t>
            </a:r>
            <a:r>
              <a:rPr lang="en-US" altLang="en-IN" sz="2000" b="1" dirty="0" err="1"/>
              <a:t>Sudh</a:t>
            </a:r>
            <a:r>
              <a:rPr lang="en-IN" altLang="en-US" sz="2000" b="1" dirty="0" err="1"/>
              <a:t>a</a:t>
            </a:r>
          </a:p>
          <a:p>
            <a:r>
              <a:rPr lang="en-IN" altLang="en-US" sz="2000" b="1" dirty="0" err="1"/>
              <a:t>Professor/CSE</a:t>
            </a:r>
          </a:p>
          <a:p>
            <a:r>
              <a:rPr lang="en-IN" altLang="en-US" sz="2000" b="1" dirty="0" err="1"/>
              <a:t>SIMATS ENGINEERING</a:t>
            </a:r>
          </a:p>
        </p:txBody>
      </p:sp>
      <p:pic>
        <p:nvPicPr>
          <p:cNvPr id="209715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7848"/>
            <a:ext cx="9144000" cy="1395757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1233170" y="3484880"/>
            <a:ext cx="7013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DSA-0112 Object-oriented Programming in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048603"/>
          <p:cNvSpPr>
            <a:spLocks noGrp="1"/>
          </p:cNvSpPr>
          <p:nvPr>
            <p:ph type="title"/>
          </p:nvPr>
        </p:nvSpPr>
        <p:spPr>
          <a:xfrm>
            <a:off x="1414780" y="1675765"/>
            <a:ext cx="6190615" cy="401320"/>
          </a:xfrm>
        </p:spPr>
        <p:txBody>
          <a:bodyPr>
            <a:normAutofit fontScale="90000"/>
          </a:bodyPr>
          <a:lstStyle/>
          <a:p>
            <a:r>
              <a:rPr lang="en-US" alt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alt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8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7360" y="68826"/>
            <a:ext cx="9136640" cy="146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 flipV="1">
            <a:off x="914401" y="2903958"/>
            <a:ext cx="9433724" cy="45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70840" y="2368868"/>
            <a:ext cx="8125460" cy="3999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paper ballot systems may face issues such as counting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errors</a:t>
            </a: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delays, and ballot tampering.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sz="23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digital voting system provides a secure and efficient method for conducting elections.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sz="23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voter authentication to ensure that only eligible voters can cast their votes.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sz="23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developed using Object-Oriented Programming (OOP) in C++ to improve security, transparency, and vote integrity.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8" y="13581"/>
            <a:ext cx="9136640" cy="14623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21071" y="1475713"/>
            <a:ext cx="5850193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9430" y="2082800"/>
            <a:ext cx="7820025" cy="41116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develops a secure digital voting and election management system using C++ and OOP.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authenticates voters and prevents duplicate or unauthorized voting.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records votes and generates accurate election results.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with paper ballots, it offers better security, faster processing, and improved transparency.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5F499-447D-C1D9-D28A-84B07949E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42" y="1278193"/>
            <a:ext cx="8229600" cy="886695"/>
          </a:xfrm>
        </p:spPr>
        <p:txBody>
          <a:bodyPr>
            <a:normAutofit/>
          </a:bodyPr>
          <a:lstStyle/>
          <a:p>
            <a:r>
              <a:rPr lang="en-IN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FE6593-1E4D-9336-03F0-42AB39B4976B}"/>
              </a:ext>
            </a:extLst>
          </p:cNvPr>
          <p:cNvSpPr txBox="1"/>
          <p:nvPr/>
        </p:nvSpPr>
        <p:spPr>
          <a:xfrm>
            <a:off x="609599" y="2107790"/>
            <a:ext cx="834758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voting takes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time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difficult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every voter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manually.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voter may try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 more than once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counting can cause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mistakes in results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digital system is needed for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voting and easy election management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55BE06D6-C200-4A03-7166-3361CC44F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8" y="13581"/>
            <a:ext cx="9136640" cy="146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198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itle 1"/>
          <p:cNvSpPr>
            <a:spLocks noGrp="1"/>
          </p:cNvSpPr>
          <p:nvPr>
            <p:ph type="title"/>
          </p:nvPr>
        </p:nvSpPr>
        <p:spPr>
          <a:xfrm>
            <a:off x="186366" y="1101895"/>
            <a:ext cx="7826478" cy="1143000"/>
          </a:xfrm>
        </p:spPr>
        <p:txBody>
          <a:bodyPr>
            <a:normAutofit/>
          </a:bodyPr>
          <a:lstStyle/>
          <a:p>
            <a:r>
              <a:rPr lang="en-IN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6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747"/>
            <a:ext cx="9144000" cy="1395757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534670" y="2077403"/>
            <a:ext cx="7859395" cy="4554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secure voting system using C++ and OOP.</a:t>
            </a:r>
          </a:p>
          <a:p>
            <a:pPr>
              <a:buFont typeface="Wingdings" panose="05000000000000000000" pitchFamily="2" charset="2"/>
              <a:buChar char="Ø"/>
            </a:pPr>
            <a:endParaRPr kumimoji="0" lang="en-US" altLang="en-US" sz="2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authenticate voters before voting.</a:t>
            </a:r>
          </a:p>
          <a:p>
            <a:pPr>
              <a:buFont typeface="Wingdings" panose="05000000000000000000" pitchFamily="2" charset="2"/>
              <a:buChar char="Ø"/>
            </a:pPr>
            <a:endParaRPr kumimoji="0" lang="en-US" altLang="en-US" sz="2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prevent duplicate voting and ensure vote integrity.</a:t>
            </a:r>
          </a:p>
          <a:p>
            <a:pPr>
              <a:buFont typeface="Wingdings" panose="05000000000000000000" pitchFamily="2" charset="2"/>
              <a:buChar char="Ø"/>
            </a:pPr>
            <a:endParaRPr kumimoji="0" lang="en-US" altLang="en-US" sz="2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fast and accurate election result generation.</a:t>
            </a:r>
          </a:p>
          <a:p>
            <a:pPr>
              <a:buFont typeface="Wingdings" panose="05000000000000000000" pitchFamily="2" charset="2"/>
              <a:buChar char="Ø"/>
            </a:pPr>
            <a:endParaRPr kumimoji="0" lang="en-US" altLang="en-US" sz="2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secure digital voting system using C++ with voter authentication and accurate vote counting.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tGPT Image Jul 30, 2026, 08_52_28 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>
          <a:xfrm>
            <a:off x="727587" y="1386348"/>
            <a:ext cx="7069394" cy="785352"/>
          </a:xfrm>
        </p:spPr>
        <p:txBody>
          <a:bodyPr>
            <a:noAutofit/>
          </a:bodyPr>
          <a:lstStyle/>
          <a:p>
            <a:r>
              <a:rPr lang="en-IN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3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6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175"/>
            <a:ext cx="9144000" cy="1395757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457200" y="2660017"/>
            <a:ext cx="7870723" cy="3106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>
              <a:buFont typeface="Wingdings" panose="05000000000000000000" charset="0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Module</a:t>
            </a: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Voter Registration Management Module </a:t>
            </a:r>
          </a:p>
          <a:p>
            <a:pPr>
              <a:buFont typeface="Wingdings" panose="05000000000000000000" charset="0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Voting Process Management Module</a:t>
            </a: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460" y="1600199"/>
            <a:ext cx="8693150" cy="4896853"/>
          </a:xfrm>
        </p:spPr>
        <p:txBody>
          <a:bodyPr>
            <a:normAutofit fontScale="72500" lnSpcReduction="20000"/>
          </a:bodyPr>
          <a:lstStyle/>
          <a:p>
            <a:pPr marL="0" indent="0" algn="ctr">
              <a:buNone/>
            </a:pPr>
            <a:r>
              <a:rPr lang="en-IN" sz="3625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1</a:t>
            </a:r>
          </a:p>
          <a:p>
            <a:pPr marL="0" indent="0" algn="ctr">
              <a:buNone/>
            </a:pPr>
            <a:r>
              <a:rPr lang="en-US" altLang="en-US" sz="3625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User Authentication Module </a:t>
            </a:r>
          </a:p>
          <a:p>
            <a:pPr marL="0" indent="0" algn="ctr">
              <a:buNone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C++ Concept Applied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Encapsulation &amp; String Manipulation via STL.</a:t>
            </a:r>
          </a:p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Role in Code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Handled by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AuthManager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::authenticate and the /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/login route.</a:t>
            </a:r>
          </a:p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Core C++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Logic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:Uses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std::string and string lookup methods (.find(), .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substr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()) to extract incoming JSON voter IDs and passwords.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Encapsulates authentication checks within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AuthManager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querying stored user objects and matching credentials securely.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Rejects unauthenticated sessions by returning HTTP status 401 Unauthorized</a:t>
            </a:r>
            <a:endParaRPr lang="en-US" dirty="0"/>
          </a:p>
        </p:txBody>
      </p:sp>
      <p:pic>
        <p:nvPicPr>
          <p:cNvPr id="209716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540"/>
            <a:ext cx="9144000" cy="13957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CC71EF0-9647-914D-BAEF-769BBF33D3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6784" y="2396127"/>
            <a:ext cx="7030431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997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5000" lnSpcReduction="20000"/>
          </a:bodyPr>
          <a:lstStyle/>
          <a:p>
            <a:pPr marL="0" indent="0" algn="ctr">
              <a:buFont typeface="Wingdings" panose="05000000000000000000" charset="0"/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2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Font typeface="Wingdings" panose="05000000000000000000" charset="0"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Voter Registration Management Module </a:t>
            </a:r>
          </a:p>
          <a:p>
            <a:pPr marL="0" indent="0" algn="ctr">
              <a:buFont typeface="Wingdings" panose="05000000000000000000" charset="0"/>
              <a:buNone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en-US" sz="289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C++ Concept Applied</a:t>
            </a:r>
            <a:r>
              <a:rPr lang="en-US" altLang="en-US" sz="289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Object-Oriented Hierarchy (Inheritance), File I/O Streams (</a:t>
            </a:r>
            <a:r>
              <a:rPr lang="en-US" altLang="en-US" sz="289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fstream</a:t>
            </a:r>
            <a:r>
              <a:rPr lang="en-US" altLang="en-US" sz="289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), and Validation Logic.</a:t>
            </a:r>
          </a:p>
          <a:p>
            <a:r>
              <a:rPr lang="en-US" altLang="en-US" sz="289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Role in Code:</a:t>
            </a:r>
            <a:r>
              <a:rPr lang="en-US" altLang="en-US" sz="289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Handled by Voter (model), </a:t>
            </a:r>
            <a:r>
              <a:rPr lang="en-US" altLang="en-US" sz="289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AuthManager</a:t>
            </a:r>
            <a:r>
              <a:rPr lang="en-US" altLang="en-US" sz="289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::</a:t>
            </a:r>
            <a:r>
              <a:rPr lang="en-US" altLang="en-US" sz="289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registerUser</a:t>
            </a:r>
            <a:r>
              <a:rPr lang="en-US" altLang="en-US" sz="289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and </a:t>
            </a:r>
            <a:r>
              <a:rPr lang="en-US" altLang="en-US" sz="289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PersistenceManager</a:t>
            </a:r>
            <a:r>
              <a:rPr lang="en-US" altLang="en-US" sz="289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</a:p>
          <a:p>
            <a:r>
              <a:rPr lang="en-US" altLang="en-US" sz="289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Core C++ </a:t>
            </a:r>
            <a:r>
              <a:rPr lang="en-US" altLang="en-US" sz="289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Logic</a:t>
            </a:r>
            <a:r>
              <a:rPr lang="en-US" altLang="en-US" sz="289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:Inheritance</a:t>
            </a:r>
            <a:r>
              <a:rPr lang="en-US" altLang="en-US" sz="289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Voter inherits common attributes (id, name, password) from the base User class.</a:t>
            </a:r>
          </a:p>
          <a:p>
            <a:r>
              <a:rPr lang="en-US" altLang="en-US" sz="289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Business Rule Validation</a:t>
            </a:r>
            <a:r>
              <a:rPr lang="en-US" altLang="en-US" sz="289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Enforces the legal voting age constraint (age &gt;= 18) and verifies uniqueness against registered IDs before instantiation.</a:t>
            </a:r>
          </a:p>
          <a:p>
            <a:r>
              <a:rPr lang="en-US" altLang="en-US" sz="289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Persistence: </a:t>
            </a:r>
            <a:r>
              <a:rPr lang="en-US" altLang="en-US" sz="289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Uses std::</a:t>
            </a:r>
            <a:r>
              <a:rPr lang="en-US" altLang="en-US" sz="289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fstream</a:t>
            </a:r>
            <a:r>
              <a:rPr lang="en-US" altLang="en-US" sz="289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to write new voter records to disk (data/voters.txt), ensuring durability across server restarts..</a:t>
            </a:r>
          </a:p>
          <a:p>
            <a:pPr marL="0" indent="0" algn="ctr">
              <a:buFont typeface="Wingdings" panose="05000000000000000000" charset="0"/>
              <a:buNone/>
            </a:pPr>
            <a:endParaRPr lang="en-US" sz="2890" dirty="0"/>
          </a:p>
        </p:txBody>
      </p:sp>
      <p:pic>
        <p:nvPicPr>
          <p:cNvPr id="209716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5"/>
            <a:ext cx="9144000" cy="13957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9542C08-6AA0-96AF-3EC1-6E864A4FFA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2100" y="1743573"/>
            <a:ext cx="6439799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59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3</a:t>
            </a:r>
          </a:p>
          <a:p>
            <a:pPr marL="0" indent="0" algn="ctr">
              <a:buNone/>
            </a:pPr>
            <a:r>
              <a:rPr lang="en-US" altLang="en-US" sz="29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Voting Process Management Module </a:t>
            </a:r>
          </a:p>
          <a:p>
            <a:pPr marL="0" indent="0" algn="ctr">
              <a:buNone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en-US" sz="29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C++ Concept Applied</a:t>
            </a:r>
            <a:r>
              <a:rPr lang="en-US" altLang="en-US" sz="29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Dynamic STL Containers (std::vector), Lambda Closures, and State Mutation.</a:t>
            </a:r>
          </a:p>
          <a:p>
            <a:r>
              <a:rPr lang="en-US" altLang="en-US" sz="29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Role in Code</a:t>
            </a:r>
            <a:r>
              <a:rPr lang="en-US" altLang="en-US" sz="29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 Handled by </a:t>
            </a:r>
            <a:r>
              <a:rPr lang="en-US" altLang="en-US" sz="2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ElectionManager</a:t>
            </a:r>
            <a:r>
              <a:rPr lang="en-US" altLang="en-US" sz="29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::</a:t>
            </a:r>
            <a:r>
              <a:rPr lang="en-US" altLang="en-US" sz="2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castVote</a:t>
            </a:r>
            <a:r>
              <a:rPr lang="en-US" altLang="en-US" sz="29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Candidate (model), and the /</a:t>
            </a:r>
            <a:r>
              <a:rPr lang="en-US" altLang="en-US" sz="2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api</a:t>
            </a:r>
            <a:r>
              <a:rPr lang="en-US" altLang="en-US" sz="29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/vote / /</a:t>
            </a:r>
            <a:r>
              <a:rPr lang="en-US" altLang="en-US" sz="2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api</a:t>
            </a:r>
            <a:r>
              <a:rPr lang="en-US" altLang="en-US" sz="29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/results endpoints.</a:t>
            </a:r>
          </a:p>
          <a:p>
            <a:r>
              <a:rPr lang="en-US" altLang="en-US" sz="29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Core C++ </a:t>
            </a:r>
            <a:r>
              <a:rPr lang="en-US" altLang="en-US" sz="29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Logic:</a:t>
            </a:r>
            <a:r>
              <a:rPr lang="en-US" altLang="en-US" sz="2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State</a:t>
            </a:r>
            <a:r>
              <a:rPr lang="en-US" altLang="en-US" sz="29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Protection: Flags the </a:t>
            </a:r>
            <a:r>
              <a:rPr lang="en-US" altLang="en-US" sz="2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hasVoted</a:t>
            </a:r>
            <a:r>
              <a:rPr lang="en-US" altLang="en-US" sz="29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sz="2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boolean</a:t>
            </a:r>
            <a:r>
              <a:rPr lang="en-US" altLang="en-US" sz="29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on the voter object to prevent duplicate voting.</a:t>
            </a:r>
          </a:p>
          <a:p>
            <a:r>
              <a:rPr lang="en-US" altLang="en-US" sz="29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Container Traversal: Uses standard loops over std::vector&lt;Candidate&gt; to locate the selected candidate ID and increment the vote count (</a:t>
            </a:r>
            <a:r>
              <a:rPr lang="en-US" altLang="en-US" sz="2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voteCount</a:t>
            </a:r>
            <a:r>
              <a:rPr lang="en-US" altLang="en-US" sz="29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++).</a:t>
            </a:r>
          </a:p>
          <a:p>
            <a:r>
              <a:rPr lang="en-US" altLang="en-US" sz="29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Thread-Safe Routing &amp; Serialization: Route closures ([&amp;election]) capture references to process POST requests, immediately updating persistent files via </a:t>
            </a:r>
            <a:r>
              <a:rPr lang="en-US" altLang="en-US" sz="2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PersistenceManager</a:t>
            </a:r>
            <a:r>
              <a:rPr lang="en-US" altLang="en-US" sz="29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::</a:t>
            </a:r>
            <a:r>
              <a:rPr lang="en-US" altLang="en-US" sz="29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saveCandidates</a:t>
            </a:r>
            <a:r>
              <a:rPr lang="en-US" altLang="en-US" sz="29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and outputting live JSON tally data to the admin dashboard.</a:t>
            </a:r>
          </a:p>
        </p:txBody>
      </p:sp>
      <p:pic>
        <p:nvPicPr>
          <p:cNvPr id="209716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5"/>
            <a:ext cx="9144000" cy="13957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01CD82-C940-DDF7-9947-514BA86710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4223085" cy="32961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370D2C-7447-EC86-DE31-B2E98909C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085" y="0"/>
            <a:ext cx="4572000" cy="32961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A1C2F5-ABF8-0FFF-3CFA-53CB7D76DB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347" y="3363911"/>
            <a:ext cx="5840526" cy="349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648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175"/>
            <a:ext cx="9144000" cy="1395757"/>
          </a:xfrm>
          <a:prstGeom prst="rect">
            <a:avLst/>
          </a:prstGeom>
        </p:spPr>
      </p:pic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6969" y="2228532"/>
            <a:ext cx="8229600" cy="4525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provides a secure and reliable digital voting solution.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prevents unauthorized and duplicate voting.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vote counting reduces errors and saves time.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security, transparency, and vote integrity over conventional paper ballot systems.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90009" y="1545932"/>
            <a:ext cx="2296391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23E662C-1BC4-67BA-14F6-12C97A56A4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6274" y="1512277"/>
            <a:ext cx="4651451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7173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itle 1048595"/>
          <p:cNvSpPr>
            <a:spLocks noGrp="1"/>
          </p:cNvSpPr>
          <p:nvPr>
            <p:ph type="title"/>
          </p:nvPr>
        </p:nvSpPr>
        <p:spPr>
          <a:xfrm>
            <a:off x="457200" y="2099978"/>
            <a:ext cx="8229600" cy="2977115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845"/>
            <a:ext cx="9144000" cy="6871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699</Words>
  <Application>Microsoft Office PowerPoint</Application>
  <PresentationFormat>On-screen Show (4:3)</PresentationFormat>
  <Paragraphs>87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Times New Roman</vt:lpstr>
      <vt:lpstr>Wingdings</vt:lpstr>
      <vt:lpstr>Office Theme</vt:lpstr>
      <vt:lpstr>PowerPoint Presentation</vt:lpstr>
      <vt:lpstr>Introduction </vt:lpstr>
      <vt:lpstr>PowerPoint Presentation</vt:lpstr>
      <vt:lpstr>Problem Statement </vt:lpstr>
      <vt:lpstr>Objectives</vt:lpstr>
      <vt:lpstr>PowerPoint Presentation</vt:lpstr>
      <vt:lpstr>MODULES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SM-A166P</dc:creator>
  <cp:lastModifiedBy>chandu nani</cp:lastModifiedBy>
  <cp:revision>21</cp:revision>
  <dcterms:created xsi:type="dcterms:W3CDTF">2025-11-06T07:40:00Z</dcterms:created>
  <dcterms:modified xsi:type="dcterms:W3CDTF">2026-08-18T05:18:08Z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92DAB741005C40559CA02EBA08073F5A_13</vt:lpwstr>
  </property>
  <property fmtid="{D5CDD505-2E9C-101B-9397-08002B2CF9AE}" pid="3" name="KSOProductBuildVer">
    <vt:lpwstr>1033-12.1.0.27458</vt:lpwstr>
  </property>
</Properties>
</file>